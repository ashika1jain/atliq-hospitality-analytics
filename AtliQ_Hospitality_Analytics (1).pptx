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64592" y="0"/>
            <a:ext cx="12024360" cy="109728"/>
          </a:xfrm>
          <a:prstGeom prst="rect">
            <a:avLst/>
          </a:prstGeom>
          <a:solidFill>
            <a:srgbClr val="E8B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14400" y="1463040"/>
            <a:ext cx="10332720" cy="73152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HOSPITALITY ANALYTICS DASHBOARD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E8B46A"/>
                </a:solidFill>
                <a:latin typeface="Calibri"/>
                <a:ea typeface="Calibri"/>
                <a:cs typeface="Calibri"/>
                <a:sym typeface="Calibri"/>
              </a:rPr>
              <a:t>Revenue, Occupancy &amp; Strategic Insights for AtliQ Hotels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914400" y="3520440"/>
            <a:ext cx="10332720" cy="36576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3749039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📊  Power BI &amp; DAX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840480" y="3749039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📅  May – July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583680" y="3749039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🏙️  </a:t>
            </a:r>
            <a:r>
              <a:rPr lang="en-US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4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 Cities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961120" y="3749039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🏨  7 Properties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164592" y="6309360"/>
            <a:ext cx="12024360" cy="54864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64592" y="6327648"/>
            <a:ext cx="12024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Data-Driven Hospitality | Ashika Jain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1F3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B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0" y="109728"/>
            <a:ext cx="164592" cy="6748272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65760" y="228600"/>
            <a:ext cx="3200400" cy="54864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65760" y="320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365760" y="868680"/>
            <a:ext cx="6858000" cy="5029200"/>
          </a:xfrm>
          <a:prstGeom prst="rect">
            <a:avLst/>
          </a:prstGeom>
          <a:solidFill>
            <a:srgbClr val="E8D8DB"/>
          </a:solidFill>
          <a:ln cap="flat" cmpd="sng" w="19050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65760" y="274320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[ Insert Full Dashboard Screenshot Here ]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498079" y="914400"/>
            <a:ext cx="2011680" cy="13258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7498079" y="914400"/>
            <a:ext cx="2011680" cy="292608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498079" y="9509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498079" y="129844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1.69 bn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692640" y="914400"/>
            <a:ext cx="2011680" cy="13258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9692640" y="914400"/>
            <a:ext cx="2011680" cy="292608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9692640" y="9509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RevPAR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692640" y="1298448"/>
            <a:ext cx="2011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7,337</a:t>
            </a:r>
            <a:endParaRPr b="1" sz="2400">
              <a:solidFill>
                <a:srgbClr val="7B0D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B0D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498079" y="2487168"/>
            <a:ext cx="2011680" cy="13258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7498079" y="2487168"/>
            <a:ext cx="2011680" cy="292608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7498079" y="252374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Occupancy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498079" y="2871215"/>
            <a:ext cx="20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57.</a:t>
            </a:r>
            <a:r>
              <a:rPr b="1" lang="en-US" sz="2400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r>
              <a:rPr b="1" i="0" lang="en-US" sz="24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9692640" y="2487168"/>
            <a:ext cx="2011680" cy="13258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9692640" y="2487168"/>
            <a:ext cx="2011680" cy="292608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9692640" y="252374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ADR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692640" y="2871215"/>
            <a:ext cx="20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12.70K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7498079" y="4059935"/>
            <a:ext cx="2011680" cy="13258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7498079" y="4059935"/>
            <a:ext cx="2011680" cy="292608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7498079" y="4096511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Realisation %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498079" y="4443983"/>
            <a:ext cx="20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70.</a:t>
            </a:r>
            <a:r>
              <a:rPr b="1" lang="en-US" sz="2400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b="1" i="0" lang="en-US" sz="24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9692640" y="4059935"/>
            <a:ext cx="2011680" cy="13258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9692640" y="4059935"/>
            <a:ext cx="2011680" cy="292608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9692640" y="4096511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9692640" y="4443983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3 months of data | 6 cities | May–July | Power BI &amp; DAX</a:t>
            </a:r>
            <a:endParaRPr/>
          </a:p>
        </p:txBody>
      </p:sp>
      <p:pic>
        <p:nvPicPr>
          <p:cNvPr id="131" name="Google Shape;13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25" y="813825"/>
            <a:ext cx="7017825" cy="509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0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B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0" y="109728"/>
            <a:ext cx="164592" cy="6748272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65760" y="228600"/>
            <a:ext cx="1280160" cy="384048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365760" y="256032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01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828800" y="20116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Hotel Is Not Using Dynamic Pricing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365760" y="914400"/>
            <a:ext cx="6217920" cy="4572000"/>
          </a:xfrm>
          <a:prstGeom prst="rect">
            <a:avLst/>
          </a:prstGeom>
          <a:solidFill>
            <a:srgbClr val="2A1015"/>
          </a:solidFill>
          <a:ln cap="flat" cmpd="sng" w="12700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365760" y="2743200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[ Insert: Trend by Key Matrix</a:t>
            </a:r>
            <a:br>
              <a:rPr b="0" i="1" lang="en-US" sz="12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Line Chart Screenshot ]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6858000" y="914400"/>
            <a:ext cx="4937760" cy="4572000"/>
          </a:xfrm>
          <a:prstGeom prst="rect">
            <a:avLst/>
          </a:prstGeom>
          <a:solidFill>
            <a:srgbClr val="2A10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7040880" y="1051560"/>
            <a:ext cx="44805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📉  ADR is flat across all 13 weeks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Occupancy fluctuates week over week but the</a:t>
            </a:r>
            <a:b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rate never adjusts to match demand.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CCAA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RevPAR changes only because</a:t>
            </a:r>
            <a:b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occupancy changes — not pricing.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6858000" y="3474720"/>
            <a:ext cx="4937760" cy="173736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858000" y="3474720"/>
            <a:ext cx="4937760" cy="32004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6949440" y="35021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RECOMMENDATION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949440" y="384048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Adopt dynamic pricing. Charge higher on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weekends, holidays &amp; peak periods.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gain with zero extra operational cost.</a:t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25" y="914400"/>
            <a:ext cx="6493313" cy="4572000"/>
          </a:xfrm>
          <a:prstGeom prst="rect">
            <a:avLst/>
          </a:prstGeom>
          <a:solidFill>
            <a:srgbClr val="2A1015"/>
          </a:solidFill>
          <a:ln cap="flat" cmpd="sng" w="12700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1F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B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0" y="109728"/>
            <a:ext cx="164592" cy="6748272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365760" y="228600"/>
            <a:ext cx="1280160" cy="384048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365760" y="256032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02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828800" y="20116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Weekend Demand Is Higher But Rates Are The Same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365760" y="914400"/>
            <a:ext cx="3474720" cy="48463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365760" y="914400"/>
            <a:ext cx="3474720" cy="45720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365760" y="9601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WEEKEND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548640" y="155448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62.</a:t>
            </a:r>
            <a:r>
              <a:rPr b="1" lang="en-US" sz="2800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r>
              <a:rPr b="1" i="0" lang="en-US" sz="28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48640" y="21488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Occupancy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548640" y="292608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12,725.49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548640" y="35204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ADR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548640" y="429768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7,336.56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548640" y="48920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RevPAR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206240" y="914400"/>
            <a:ext cx="3474720" cy="48463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6A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4206240" y="914400"/>
            <a:ext cx="3474720" cy="457200"/>
          </a:xfrm>
          <a:prstGeom prst="rect">
            <a:avLst/>
          </a:prstGeom>
          <a:solidFill>
            <a:srgbClr val="8B6A7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4206240" y="9601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WEEKDAY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4389120" y="155448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2800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28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en-US" sz="2800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r>
              <a:rPr b="1" i="0" lang="en-US" sz="28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4389120" y="21488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Occupancy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4389120" y="292608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12,682.41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4389120" y="35204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ADR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4389120" y="429768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7,082.53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4389120" y="48920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RevPAR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8046720" y="914400"/>
            <a:ext cx="3749039" cy="3017520"/>
          </a:xfrm>
          <a:prstGeom prst="rect">
            <a:avLst/>
          </a:prstGeom>
          <a:solidFill>
            <a:srgbClr val="F0E4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8183879" y="10058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💡  The Gap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183879" y="14630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RevPAR difference between weekend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and weekday is driven entirely by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occupancy — not rate.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The hotel fills more rooms on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weekends but barely charges more.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8046720" y="4114800"/>
            <a:ext cx="3749039" cy="164592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8046720" y="4114800"/>
            <a:ext cx="3749039" cy="32004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8183879" y="41422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RECOMMENDATION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8183879" y="4498848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Introduce weekend premium pricing.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 ADR increase on weekends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directly lifts RevPAR.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0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B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0" y="109728"/>
            <a:ext cx="164592" cy="6748272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365760" y="228600"/>
            <a:ext cx="1280160" cy="384048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365760" y="256032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03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1828800" y="20116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Booking Platform Strategy Needs Rethinking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365760" y="914400"/>
            <a:ext cx="6217920" cy="4572000"/>
          </a:xfrm>
          <a:prstGeom prst="rect">
            <a:avLst/>
          </a:prstGeom>
          <a:solidFill>
            <a:srgbClr val="2A1015"/>
          </a:solidFill>
          <a:ln cap="flat" cmpd="sng" w="12700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365760" y="2926080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[ Insert: Realisation % &amp; ADR by</a:t>
            </a:r>
            <a:br>
              <a:rPr b="0" i="1" lang="en-US" sz="12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Booking Platform Bar Chart ]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6858000" y="914400"/>
            <a:ext cx="4937760" cy="4572000"/>
          </a:xfrm>
          <a:prstGeom prst="rect">
            <a:avLst/>
          </a:prstGeom>
          <a:solidFill>
            <a:srgbClr val="2A10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7040880" y="105156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OTA bots monitor prices across platforms.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7040880" y="1399031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7040880" y="1536191"/>
            <a:ext cx="448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If a hotel lists cheaper rates elsewhere,</a:t>
            </a:r>
            <a:r>
              <a:rPr lang="en-US" sz="1200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 the scraper on different</a:t>
            </a:r>
            <a:endParaRPr sz="1200">
              <a:solidFill>
                <a:srgbClr val="CCAA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 application</a:t>
            </a: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 reduces the hotel's visibility &amp; rating.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7040880" y="1883663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7040880" y="2020823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Directly cutting website prices backfires</a:t>
            </a:r>
            <a:b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on OTA rankings.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7040880" y="2368295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7040880" y="2505455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Direct offline has no commission but</a:t>
            </a:r>
            <a:b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also lower ADR — opportunity exists.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858000" y="3474720"/>
            <a:ext cx="4937760" cy="173736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858000" y="3474720"/>
            <a:ext cx="4937760" cy="32004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6949440" y="35021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RECOMMENDATION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949440" y="3858768"/>
            <a:ext cx="457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 listed prices stable across OTAs.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 direct booking coupon program 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 own  website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 rate relaxation 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protects OTA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ratings while cutting commission costs.</a:t>
            </a:r>
            <a:endParaRPr/>
          </a:p>
        </p:txBody>
      </p:sp>
      <p:pic>
        <p:nvPicPr>
          <p:cNvPr id="207" name="Google Shape;2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812975"/>
            <a:ext cx="6217925" cy="477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1F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B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0" y="109728"/>
            <a:ext cx="164592" cy="6748272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365760" y="228600"/>
            <a:ext cx="1280160" cy="384048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365760" y="256032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04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828800" y="201175"/>
            <a:ext cx="69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Atliq Grands Bangalore is Underperforming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365750" y="914400"/>
            <a:ext cx="8379600" cy="4547100"/>
          </a:xfrm>
          <a:prstGeom prst="rect">
            <a:avLst/>
          </a:prstGeom>
          <a:solidFill>
            <a:srgbClr val="F0E4E7"/>
          </a:solidFill>
          <a:ln cap="flat" cmpd="sng" w="12700">
            <a:solidFill>
              <a:srgbClr val="8B6A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365759" y="2926075"/>
            <a:ext cx="68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9373525" y="734265"/>
            <a:ext cx="2103000" cy="109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9373525" y="734265"/>
            <a:ext cx="2103000" cy="27420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9464965" y="761697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Rating — Lowest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9464965" y="1081737"/>
            <a:ext cx="192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2.3</a:t>
            </a:r>
            <a:r>
              <a:rPr b="1" lang="en-US" sz="2000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20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 ⭐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9373520" y="2021053"/>
            <a:ext cx="2103000" cy="109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9373520" y="2021053"/>
            <a:ext cx="2103000" cy="27420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9464960" y="2048485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Occupancy %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464960" y="2368525"/>
            <a:ext cx="192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Lowest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8894325" y="3307834"/>
            <a:ext cx="2939400" cy="1993200"/>
          </a:xfrm>
          <a:prstGeom prst="rect">
            <a:avLst/>
          </a:prstGeom>
          <a:solidFill>
            <a:srgbClr val="F0E4E7"/>
          </a:solidFill>
          <a:ln>
            <a:noFill/>
          </a:ln>
          <a:effectLst>
            <a:outerShdw blurRad="41516" rotWithShape="0" dir="5400000" dist="23872">
              <a:srgbClr val="000000">
                <a:alpha val="34901"/>
              </a:srgbClr>
            </a:outerShdw>
          </a:effectLst>
        </p:spPr>
        <p:txBody>
          <a:bodyPr anchorCtr="0" anchor="ctr" bIns="47425" lIns="94900" spcFirstLastPara="1" rIns="94900" wrap="square" tIns="4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 flipH="1" rot="10800000">
            <a:off x="9098025" y="3267185"/>
            <a:ext cx="21066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25" lIns="94900" spcFirstLastPara="1" rIns="94900" wrap="square" tIns="4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3"/>
          </a:p>
        </p:txBody>
      </p:sp>
      <p:sp>
        <p:nvSpPr>
          <p:cNvPr id="229" name="Google Shape;229;p18"/>
          <p:cNvSpPr txBox="1"/>
          <p:nvPr/>
        </p:nvSpPr>
        <p:spPr>
          <a:xfrm>
            <a:off x="8918175" y="3429002"/>
            <a:ext cx="2891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25" lIns="94900" spcFirstLastPara="1" rIns="94900" wrap="square" tIns="4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Low rating → Low occupancy → Low revenue.</a:t>
            </a:r>
            <a:br>
              <a:rPr b="0" i="0" lang="en-US" sz="1141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41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This is not a pricing problem.</a:t>
            </a:r>
            <a:br>
              <a:rPr b="0" i="0" lang="en-US" sz="1141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41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It is an operational &amp; experience problem.</a:t>
            </a:r>
            <a:endParaRPr b="0" i="0" sz="1141" u="none" cap="none" strike="noStrike">
              <a:solidFill>
                <a:srgbClr val="1A0A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>
              <a:solidFill>
                <a:srgbClr val="1A0A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>
              <a:solidFill>
                <a:srgbClr val="1A0A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>
              <a:solidFill>
                <a:srgbClr val="1A0A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>
              <a:solidFill>
                <a:srgbClr val="1A0A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365760" y="6004560"/>
            <a:ext cx="11430000" cy="68580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365760" y="6004560"/>
            <a:ext cx="11430000" cy="25590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502920" y="6022848"/>
            <a:ext cx="182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ACTION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502920" y="6297168"/>
            <a:ext cx="1106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cause analysis on guest reviews → Check photos vs reality → Fix top complaints → Improve rating → Recover occupancy</a:t>
            </a:r>
            <a:endParaRPr/>
          </a:p>
        </p:txBody>
      </p:sp>
      <p:pic>
        <p:nvPicPr>
          <p:cNvPr id="234" name="Google Shape;2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25" y="754325"/>
            <a:ext cx="8492724" cy="5102725"/>
          </a:xfrm>
          <a:prstGeom prst="rect">
            <a:avLst/>
          </a:prstGeom>
          <a:solidFill>
            <a:srgbClr val="F0E4E7"/>
          </a:solidFill>
          <a:ln cap="flat" cmpd="sng" w="12700">
            <a:solidFill>
              <a:srgbClr val="8B6A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0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B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0" y="109728"/>
            <a:ext cx="164592" cy="6748272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457200" y="22860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PRIORITIZED RECOMMENDATIONS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2286000" y="822960"/>
            <a:ext cx="7616952" cy="4572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65760" y="1051560"/>
            <a:ext cx="11430000" cy="1572768"/>
          </a:xfrm>
          <a:prstGeom prst="rect">
            <a:avLst/>
          </a:prstGeom>
          <a:solidFill>
            <a:srgbClr val="2A10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65760" y="1051560"/>
            <a:ext cx="658368" cy="1572768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365760" y="1554480"/>
            <a:ext cx="658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1143000" y="114300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Dynamic &amp; Weekend Pricing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1143000" y="1581912"/>
            <a:ext cx="7132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ADR is flat — no dynamic pricing in use. Even a 10% weekend rate increase</a:t>
            </a:r>
            <a:br>
              <a:rPr b="0" i="0" lang="en-US" sz="11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directly lifts RevPAR with zero extra cost.</a:t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8686800" y="1371600"/>
            <a:ext cx="2743200" cy="45720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8686800" y="1399031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HIGHEST IMPACT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8686800" y="1874519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⏱  Implement immediately</a:t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365760" y="2788920"/>
            <a:ext cx="11430000" cy="1572768"/>
          </a:xfrm>
          <a:prstGeom prst="rect">
            <a:avLst/>
          </a:prstGeom>
          <a:solidFill>
            <a:srgbClr val="2A10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365760" y="2788920"/>
            <a:ext cx="658368" cy="1572768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365760" y="3291839"/>
            <a:ext cx="658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1143000" y="288036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 Booking Coupon Program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1143000" y="3319272"/>
            <a:ext cx="7132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OTA bots penalize lower direct prices. Use coupons for rate relaxation on</a:t>
            </a:r>
            <a:br>
              <a:rPr b="0" i="0" lang="en-US" sz="11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direct channel to protect OTA rankings while reducing commission dependency.</a:t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8686800" y="3108960"/>
            <a:ext cx="2743200" cy="45720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8686800" y="3136391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 IMPACT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8686800" y="3611879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⏱  Medium term</a:t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365760" y="4526279"/>
            <a:ext cx="11430000" cy="1572768"/>
          </a:xfrm>
          <a:prstGeom prst="rect">
            <a:avLst/>
          </a:prstGeom>
          <a:solidFill>
            <a:srgbClr val="2A10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365760" y="4526279"/>
            <a:ext cx="658368" cy="1572768"/>
          </a:xfrm>
          <a:prstGeom prst="rect">
            <a:avLst/>
          </a:prstGeom>
          <a:solidFill>
            <a:srgbClr val="8B0D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365760" y="5029199"/>
            <a:ext cx="658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1143000" y="4617719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 Atliq Grands Bangalore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1143000" y="5056631"/>
            <a:ext cx="7132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Lowest occupancy + lowest rating (2.33★). Audit reviews, check property</a:t>
            </a:r>
            <a:br>
              <a:rPr b="0" i="0" lang="en-US" sz="11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conditions, close service gaps. Rating improvement = occupancy recovery.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8686800" y="4846319"/>
            <a:ext cx="2743200" cy="457200"/>
          </a:xfrm>
          <a:prstGeom prst="rect">
            <a:avLst/>
          </a:prstGeom>
          <a:solidFill>
            <a:srgbClr val="8B0D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8686800" y="4873751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URGENT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8686800" y="53492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6A70"/>
                </a:solidFill>
                <a:latin typeface="Calibri"/>
                <a:ea typeface="Calibri"/>
                <a:cs typeface="Calibri"/>
                <a:sym typeface="Calibri"/>
              </a:rPr>
              <a:t>⏱  Urgent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1F3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B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0" y="109728"/>
            <a:ext cx="164592" cy="6748272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457200" y="22860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7B0D1E"/>
                </a:solidFill>
                <a:latin typeface="Calibri"/>
                <a:ea typeface="Calibri"/>
                <a:cs typeface="Calibri"/>
                <a:sym typeface="Calibri"/>
              </a:rPr>
              <a:t>TOOLS &amp; METHODOLOGY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2286000" y="804672"/>
            <a:ext cx="7616952" cy="45720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57200" y="1097280"/>
            <a:ext cx="3520440" cy="20116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457200" y="1097280"/>
            <a:ext cx="3520440" cy="45720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594360" y="11704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Power BI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594360" y="1691640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Interactive dashboard with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city and room class filters</a:t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4297680" y="1097280"/>
            <a:ext cx="3520440" cy="20116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4297680" y="1097280"/>
            <a:ext cx="3520440" cy="45720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4434840" y="11704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🧮  DAX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4434840" y="1691640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Custom measures for KPIs,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week-on-week change indicators</a:t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8138160" y="1097280"/>
            <a:ext cx="3520440" cy="20116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8138160" y="1097280"/>
            <a:ext cx="3520440" cy="45720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8275320" y="11704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🗃️  Data Model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8275320" y="1691640"/>
            <a:ext cx="324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3 months | May–July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 cities | 7 properties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457200" y="3474720"/>
            <a:ext cx="3520440" cy="20116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457200" y="3474720"/>
            <a:ext cx="3520440" cy="45720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594360" y="354787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Tooltips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594360" y="4069080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Custom tooltip pages for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Revenue, ADR, DSRN, Occupancy,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Realisation %</a:t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4297680" y="3474720"/>
            <a:ext cx="3520440" cy="20116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4297680" y="3474720"/>
            <a:ext cx="3520440" cy="45720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4434840" y="354787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KPI Tracking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4434840" y="4069080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Weekly trend analysis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with WoW change arrows</a:t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8138160" y="3474720"/>
            <a:ext cx="3520440" cy="20116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8138160" y="3474720"/>
            <a:ext cx="3520440" cy="457200"/>
          </a:xfrm>
          <a:prstGeom prst="rect">
            <a:avLst/>
          </a:prstGeom>
          <a:solidFill>
            <a:srgbClr val="7B0D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8275320" y="354787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🏨  Domain</a:t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8275320" y="4069080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Hospitality analytics</a:t>
            </a:r>
            <a:b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0A0F"/>
                </a:solidFill>
                <a:latin typeface="Calibri"/>
                <a:ea typeface="Calibri"/>
                <a:cs typeface="Calibri"/>
                <a:sym typeface="Calibri"/>
              </a:rPr>
              <a:t>with business insight framing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0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B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0" y="109728"/>
            <a:ext cx="164592" cy="6748272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365760" y="1371600"/>
            <a:ext cx="11430000" cy="54864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E8B46A"/>
                </a:solidFill>
                <a:latin typeface="Calibri"/>
                <a:ea typeface="Calibri"/>
                <a:cs typeface="Calibri"/>
                <a:sym typeface="Calibri"/>
              </a:rPr>
              <a:t>Insights derived from data. Decisions driven by strategy.</a:t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365760" y="3749039"/>
            <a:ext cx="11430000" cy="54864"/>
          </a:xfrm>
          <a:prstGeom prst="rect">
            <a:avLst/>
          </a:prstGeom>
          <a:solidFill>
            <a:srgbClr val="C03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3200400" y="4206240"/>
            <a:ext cx="5788152" cy="1645920"/>
          </a:xfrm>
          <a:prstGeom prst="rect">
            <a:avLst/>
          </a:prstGeom>
          <a:solidFill>
            <a:srgbClr val="2A10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3397030" y="4323905"/>
            <a:ext cx="5394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Ashika Jain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AAB0"/>
                </a:solidFill>
                <a:latin typeface="Calibri"/>
                <a:ea typeface="Calibri"/>
                <a:cs typeface="Calibri"/>
                <a:sym typeface="Calibri"/>
              </a:rPr>
              <a:t>B.Tech CSE | Medicaps University, Indore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